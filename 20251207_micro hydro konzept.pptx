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4" r:id="rId8"/>
    <p:sldId id="265" r:id="rId9"/>
    <p:sldId id="267" r:id="rId10"/>
    <p:sldId id="266" r:id="rId11"/>
    <p:sldId id="268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3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280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03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287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32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38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645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3002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082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96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234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534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992910" y="3516123"/>
            <a:ext cx="3937860" cy="3937860"/>
          </a:xfrm>
          <a:prstGeom prst="rect">
            <a:avLst/>
          </a:prstGeom>
          <a:effectLst>
            <a:softEdge rad="1155700"/>
          </a:effectLst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4586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A0708-23C3-4EA9-A3DC-EFC632DDF76E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55102-C634-4380-8BA7-32F4E697F2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34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gro.at/aur/Kategorien/Kabel-&amp;-Leitungen/Starkstromkabel/Erdkabel-Aluminium/Aluminium-mit-Schutzleiter/PVC-Aluminium-Erdkabel-E-AYY-J-5X16-RM-Eca-500m-Trommel/p/1646915#infomenu" TargetMode="External"/><Relationship Id="rId2" Type="http://schemas.openxmlformats.org/officeDocument/2006/relationships/hyperlink" Target="https://www.regro.at/aur/Kategorien/Kabel-&amp;-Leitungen/Starkstromkabel/Erdkabel-Aluminium/Aluminium-mit-Schutzleiter/PVC-Aluminium-Erdkabel-E-AYY-J-5X10-RE-Eca/p/2292912#infomen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Micro </a:t>
            </a:r>
            <a:r>
              <a:rPr lang="de-DE" dirty="0" err="1" smtClean="0"/>
              <a:t>Hydro</a:t>
            </a:r>
            <a:r>
              <a:rPr lang="de-DE" dirty="0" smtClean="0"/>
              <a:t> Konzept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 </a:t>
            </a:r>
            <a:r>
              <a:rPr lang="de-DE" dirty="0" smtClean="0"/>
              <a:t>07.12.2025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6821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Örtlichkeit</a:t>
            </a:r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4" y="1690688"/>
            <a:ext cx="11920151" cy="4041843"/>
          </a:xfrm>
          <a:prstGeom prst="rect">
            <a:avLst/>
          </a:prstGeom>
        </p:spPr>
      </p:pic>
      <p:sp>
        <p:nvSpPr>
          <p:cNvPr id="4" name="Textfeld 3"/>
          <p:cNvSpPr txBox="1"/>
          <p:nvPr/>
        </p:nvSpPr>
        <p:spPr>
          <a:xfrm>
            <a:off x="205946" y="4283676"/>
            <a:ext cx="2710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Zusätzlich 350m Energieableitung -&gt; 450 m gesamt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430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Kabel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Alu 5x16 oder 5x10 ca. 250 € pro 100m</a:t>
            </a:r>
          </a:p>
          <a:p>
            <a:r>
              <a:rPr lang="de-DE" dirty="0" smtClean="0"/>
              <a:t>Rolle mit 500m verfügbar</a:t>
            </a:r>
          </a:p>
          <a:p>
            <a:r>
              <a:rPr lang="de-DE" u="sng" dirty="0">
                <a:hlinkClick r:id="rId2"/>
              </a:rPr>
              <a:t>https://www.regro.at/aur/Kategorien/Kabel-%26-Leitungen/Starkstromkabel/Erdkabel-Aluminium/Aluminium-mit-Schutzleiter/PVC-Aluminium-Erdkabel-E-AYY-J-5X10-RE-Eca/p/2292912#infomenu</a:t>
            </a:r>
            <a:endParaRPr lang="de-DE" dirty="0"/>
          </a:p>
          <a:p>
            <a:r>
              <a:rPr lang="de-DE" u="sng" dirty="0">
                <a:hlinkClick r:id="rId3"/>
              </a:rPr>
              <a:t>https://www.regro.at/aur/Kategorien/Kabel-%26-Leitungen/Starkstromkabel/Erdkabel-Aluminium/Aluminium-mit-Schutzleiter/PVC-Aluminium-Erdkabel-E-AYY-J-5X16-RM-Eca-500m-Trommel/p/1646915#infomenu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926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Auslegung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25 m Fallhöhe</a:t>
            </a:r>
          </a:p>
          <a:p>
            <a:r>
              <a:rPr lang="de-DE" dirty="0" smtClean="0"/>
              <a:t>1…2 m/s Durchfluss</a:t>
            </a:r>
          </a:p>
          <a:p>
            <a:endParaRPr lang="de-DE" dirty="0"/>
          </a:p>
          <a:p>
            <a:endParaRPr lang="de-DE" dirty="0" smtClean="0"/>
          </a:p>
          <a:p>
            <a:r>
              <a:rPr lang="de-DE" dirty="0" smtClean="0">
                <a:sym typeface="Wingdings" panose="05000000000000000000" pitchFamily="2" charset="2"/>
              </a:rPr>
              <a:t>200 bis 350 W</a:t>
            </a:r>
            <a:endParaRPr lang="de-DE" dirty="0" smtClean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88904"/>
            <a:ext cx="4248743" cy="400106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943" y="1262184"/>
            <a:ext cx="7322015" cy="392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24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Setup V1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1057029" y="4208583"/>
            <a:ext cx="1391139" cy="93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Turbine </a:t>
            </a:r>
          </a:p>
          <a:p>
            <a:pPr algn="ctr"/>
            <a:r>
              <a:rPr lang="de-DE" dirty="0" smtClean="0"/>
              <a:t>KT 340</a:t>
            </a:r>
          </a:p>
          <a:p>
            <a:pPr algn="ctr"/>
            <a:r>
              <a:rPr lang="de-DE" dirty="0" err="1" smtClean="0"/>
              <a:t>Lingenhöhle</a:t>
            </a: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2596660" y="4208583"/>
            <a:ext cx="1594338" cy="93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3 p</a:t>
            </a:r>
          </a:p>
          <a:p>
            <a:pPr algn="ctr"/>
            <a:r>
              <a:rPr lang="de-DE" dirty="0" smtClean="0"/>
              <a:t>Synchron GEN</a:t>
            </a:r>
          </a:p>
          <a:p>
            <a:pPr algn="ctr"/>
            <a:r>
              <a:rPr lang="de-DE" dirty="0" smtClean="0"/>
              <a:t>24 V</a:t>
            </a:r>
          </a:p>
        </p:txBody>
      </p:sp>
      <p:cxnSp>
        <p:nvCxnSpPr>
          <p:cNvPr id="8" name="Gerader Verbinder 7"/>
          <p:cNvCxnSpPr>
            <a:stCxn id="5" idx="3"/>
            <a:endCxn id="6" idx="1"/>
          </p:cNvCxnSpPr>
          <p:nvPr/>
        </p:nvCxnSpPr>
        <p:spPr>
          <a:xfrm>
            <a:off x="2448168" y="4673599"/>
            <a:ext cx="148492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/>
          <p:cNvSpPr/>
          <p:nvPr/>
        </p:nvSpPr>
        <p:spPr>
          <a:xfrm>
            <a:off x="4456722" y="4208583"/>
            <a:ext cx="1594338" cy="9300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</a:t>
            </a:r>
            <a:r>
              <a:rPr lang="de-DE" dirty="0" smtClean="0"/>
              <a:t>leichrichter</a:t>
            </a:r>
          </a:p>
        </p:txBody>
      </p:sp>
      <p:cxnSp>
        <p:nvCxnSpPr>
          <p:cNvPr id="13" name="Gerader Verbinder 12"/>
          <p:cNvCxnSpPr>
            <a:stCxn id="6" idx="3"/>
            <a:endCxn id="11" idx="1"/>
          </p:cNvCxnSpPr>
          <p:nvPr/>
        </p:nvCxnSpPr>
        <p:spPr>
          <a:xfrm>
            <a:off x="4190998" y="4673599"/>
            <a:ext cx="26572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/>
          <p:cNvSpPr/>
          <p:nvPr/>
        </p:nvSpPr>
        <p:spPr>
          <a:xfrm>
            <a:off x="6316784" y="4208583"/>
            <a:ext cx="1848338" cy="9300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MPP </a:t>
            </a:r>
            <a:r>
              <a:rPr lang="de-DE" dirty="0" err="1" smtClean="0"/>
              <a:t>Tracker</a:t>
            </a:r>
            <a:endParaRPr lang="de-DE" dirty="0" smtClean="0"/>
          </a:p>
          <a:p>
            <a:pPr algn="ctr"/>
            <a:r>
              <a:rPr lang="de-DE" dirty="0" smtClean="0"/>
              <a:t>Balkonkraftwerk</a:t>
            </a:r>
          </a:p>
        </p:txBody>
      </p:sp>
      <p:cxnSp>
        <p:nvCxnSpPr>
          <p:cNvPr id="15" name="Gerader Verbinder 14"/>
          <p:cNvCxnSpPr/>
          <p:nvPr/>
        </p:nvCxnSpPr>
        <p:spPr>
          <a:xfrm>
            <a:off x="6051060" y="4673597"/>
            <a:ext cx="26572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krümmte Verbindung 26"/>
          <p:cNvCxnSpPr/>
          <p:nvPr/>
        </p:nvCxnSpPr>
        <p:spPr>
          <a:xfrm rot="16200000" flipV="1">
            <a:off x="5247541" y="3199176"/>
            <a:ext cx="12700" cy="3847124"/>
          </a:xfrm>
          <a:prstGeom prst="curvedConnector3">
            <a:avLst>
              <a:gd name="adj1" fmla="val -63230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/>
          <p:cNvSpPr txBox="1"/>
          <p:nvPr/>
        </p:nvSpPr>
        <p:spPr>
          <a:xfrm>
            <a:off x="4585675" y="5597278"/>
            <a:ext cx="2051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Drehzahlregelung</a:t>
            </a:r>
            <a:endParaRPr lang="de-DE" sz="1200" dirty="0"/>
          </a:p>
        </p:txBody>
      </p:sp>
      <p:cxnSp>
        <p:nvCxnSpPr>
          <p:cNvPr id="32" name="Gerade Verbindung mit Pfeil 31"/>
          <p:cNvCxnSpPr>
            <a:stCxn id="14" idx="3"/>
          </p:cNvCxnSpPr>
          <p:nvPr/>
        </p:nvCxnSpPr>
        <p:spPr>
          <a:xfrm flipV="1">
            <a:off x="8165122" y="4673597"/>
            <a:ext cx="47673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/>
          <p:cNvSpPr txBox="1"/>
          <p:nvPr/>
        </p:nvSpPr>
        <p:spPr>
          <a:xfrm>
            <a:off x="4120660" y="4439137"/>
            <a:ext cx="570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24V</a:t>
            </a:r>
            <a:endParaRPr lang="de-DE" sz="1200" dirty="0"/>
          </a:p>
        </p:txBody>
      </p:sp>
      <p:sp>
        <p:nvSpPr>
          <p:cNvPr id="36" name="Textfeld 35"/>
          <p:cNvSpPr txBox="1"/>
          <p:nvPr/>
        </p:nvSpPr>
        <p:spPr>
          <a:xfrm>
            <a:off x="8145584" y="4439136"/>
            <a:ext cx="570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230 V</a:t>
            </a:r>
            <a:endParaRPr lang="de-DE" sz="1200" dirty="0"/>
          </a:p>
        </p:txBody>
      </p:sp>
      <p:sp>
        <p:nvSpPr>
          <p:cNvPr id="38" name="Rechteck 37"/>
          <p:cNvSpPr/>
          <p:nvPr/>
        </p:nvSpPr>
        <p:spPr>
          <a:xfrm>
            <a:off x="8641861" y="4199057"/>
            <a:ext cx="1418493" cy="917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Trennstelle 1+2</a:t>
            </a:r>
          </a:p>
          <a:p>
            <a:pPr algn="ctr"/>
            <a:r>
              <a:rPr lang="de-DE" dirty="0" smtClean="0"/>
              <a:t>Schütz</a:t>
            </a:r>
          </a:p>
        </p:txBody>
      </p:sp>
      <p:cxnSp>
        <p:nvCxnSpPr>
          <p:cNvPr id="41" name="Gerade Verbindung mit Pfeil 40"/>
          <p:cNvCxnSpPr/>
          <p:nvPr/>
        </p:nvCxnSpPr>
        <p:spPr>
          <a:xfrm flipV="1">
            <a:off x="10060354" y="4673597"/>
            <a:ext cx="1672493" cy="11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10667022" y="4396598"/>
            <a:ext cx="1262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Energieableitung</a:t>
            </a:r>
            <a:endParaRPr lang="de-DE" sz="1200" dirty="0"/>
          </a:p>
        </p:txBody>
      </p:sp>
      <p:sp>
        <p:nvSpPr>
          <p:cNvPr id="44" name="Rechteck 43"/>
          <p:cNvSpPr/>
          <p:nvPr/>
        </p:nvSpPr>
        <p:spPr>
          <a:xfrm>
            <a:off x="6559062" y="2790094"/>
            <a:ext cx="1418493" cy="6052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24 V Batterie +Laderegler</a:t>
            </a:r>
          </a:p>
        </p:txBody>
      </p:sp>
      <p:sp>
        <p:nvSpPr>
          <p:cNvPr id="45" name="Rechteck 44"/>
          <p:cNvSpPr/>
          <p:nvPr/>
        </p:nvSpPr>
        <p:spPr>
          <a:xfrm>
            <a:off x="4544644" y="2790094"/>
            <a:ext cx="1418493" cy="6052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Steuerung</a:t>
            </a:r>
          </a:p>
        </p:txBody>
      </p:sp>
      <p:cxnSp>
        <p:nvCxnSpPr>
          <p:cNvPr id="47" name="Gewinkelte Verbindung 46"/>
          <p:cNvCxnSpPr>
            <a:endCxn id="44" idx="3"/>
          </p:cNvCxnSpPr>
          <p:nvPr/>
        </p:nvCxnSpPr>
        <p:spPr>
          <a:xfrm rot="16200000" flipV="1">
            <a:off x="7461748" y="3608536"/>
            <a:ext cx="1484907" cy="4532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/>
          <p:cNvCxnSpPr>
            <a:stCxn id="44" idx="1"/>
            <a:endCxn id="45" idx="3"/>
          </p:cNvCxnSpPr>
          <p:nvPr/>
        </p:nvCxnSpPr>
        <p:spPr>
          <a:xfrm flipH="1">
            <a:off x="5963137" y="3092728"/>
            <a:ext cx="595925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hteck 52"/>
          <p:cNvSpPr/>
          <p:nvPr/>
        </p:nvSpPr>
        <p:spPr>
          <a:xfrm>
            <a:off x="6559062" y="1882195"/>
            <a:ext cx="1418493" cy="6052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Not aus</a:t>
            </a:r>
          </a:p>
        </p:txBody>
      </p:sp>
      <p:cxnSp>
        <p:nvCxnSpPr>
          <p:cNvPr id="54" name="Gewinkelte Verbindung 53"/>
          <p:cNvCxnSpPr>
            <a:endCxn id="38" idx="0"/>
          </p:cNvCxnSpPr>
          <p:nvPr/>
        </p:nvCxnSpPr>
        <p:spPr>
          <a:xfrm rot="16200000" flipH="1">
            <a:off x="7714734" y="2562682"/>
            <a:ext cx="1938273" cy="1334475"/>
          </a:xfrm>
          <a:prstGeom prst="bentConnector3">
            <a:avLst>
              <a:gd name="adj1" fmla="val 808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53" idx="1"/>
          </p:cNvCxnSpPr>
          <p:nvPr/>
        </p:nvCxnSpPr>
        <p:spPr>
          <a:xfrm rot="10800000" flipV="1">
            <a:off x="5252912" y="2184828"/>
            <a:ext cx="1306150" cy="595739"/>
          </a:xfrm>
          <a:prstGeom prst="bentConnector3">
            <a:avLst>
              <a:gd name="adj1" fmla="val 99962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winkelte Verbindung 70"/>
          <p:cNvCxnSpPr>
            <a:stCxn id="45" idx="1"/>
          </p:cNvCxnSpPr>
          <p:nvPr/>
        </p:nvCxnSpPr>
        <p:spPr>
          <a:xfrm rot="10800000" flipV="1">
            <a:off x="2133598" y="3092728"/>
            <a:ext cx="2411047" cy="1044528"/>
          </a:xfrm>
          <a:prstGeom prst="bentConnector3">
            <a:avLst>
              <a:gd name="adj1" fmla="val 100243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feld 80"/>
          <p:cNvSpPr txBox="1"/>
          <p:nvPr/>
        </p:nvSpPr>
        <p:spPr>
          <a:xfrm>
            <a:off x="1" y="1232954"/>
            <a:ext cx="1137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Ca. DN50 bis DN70</a:t>
            </a:r>
            <a:endParaRPr lang="de-DE" dirty="0"/>
          </a:p>
        </p:txBody>
      </p:sp>
      <p:sp>
        <p:nvSpPr>
          <p:cNvPr id="86" name="Textfeld 85"/>
          <p:cNvSpPr txBox="1"/>
          <p:nvPr/>
        </p:nvSpPr>
        <p:spPr>
          <a:xfrm>
            <a:off x="2212237" y="3083202"/>
            <a:ext cx="2051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Leistungsregelung über Düsen</a:t>
            </a:r>
            <a:endParaRPr lang="de-DE" sz="1200" dirty="0"/>
          </a:p>
        </p:txBody>
      </p:sp>
      <p:cxnSp>
        <p:nvCxnSpPr>
          <p:cNvPr id="87" name="Gewinkelte Verbindung 86"/>
          <p:cNvCxnSpPr/>
          <p:nvPr/>
        </p:nvCxnSpPr>
        <p:spPr>
          <a:xfrm rot="10800000" flipV="1">
            <a:off x="1595797" y="2198611"/>
            <a:ext cx="3657114" cy="1939420"/>
          </a:xfrm>
          <a:prstGeom prst="bentConnector3">
            <a:avLst>
              <a:gd name="adj1" fmla="val 100327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winkelte Verbindung 89"/>
          <p:cNvCxnSpPr/>
          <p:nvPr/>
        </p:nvCxnSpPr>
        <p:spPr>
          <a:xfrm flipV="1">
            <a:off x="5464908" y="2301589"/>
            <a:ext cx="1078526" cy="469783"/>
          </a:xfrm>
          <a:prstGeom prst="bentConnector3">
            <a:avLst>
              <a:gd name="adj1" fmla="val -1087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feld 90"/>
          <p:cNvSpPr txBox="1"/>
          <p:nvPr/>
        </p:nvSpPr>
        <p:spPr>
          <a:xfrm>
            <a:off x="2397855" y="1914941"/>
            <a:ext cx="2375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Notaus</a:t>
            </a:r>
            <a:r>
              <a:rPr lang="de-DE" sz="1200" dirty="0" smtClean="0"/>
              <a:t> über 24 V </a:t>
            </a:r>
            <a:r>
              <a:rPr lang="de-DE" sz="1200" dirty="0" err="1" smtClean="0"/>
              <a:t>Federventiel</a:t>
            </a:r>
            <a:endParaRPr lang="de-DE" sz="1200" dirty="0"/>
          </a:p>
        </p:txBody>
      </p:sp>
      <p:cxnSp>
        <p:nvCxnSpPr>
          <p:cNvPr id="96" name="Gewinkelte Verbindung 95"/>
          <p:cNvCxnSpPr>
            <a:endCxn id="45" idx="2"/>
          </p:cNvCxnSpPr>
          <p:nvPr/>
        </p:nvCxnSpPr>
        <p:spPr>
          <a:xfrm rot="5400000" flipH="1" flipV="1">
            <a:off x="4139378" y="3549562"/>
            <a:ext cx="1268713" cy="960313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feld 102"/>
          <p:cNvSpPr txBox="1"/>
          <p:nvPr/>
        </p:nvSpPr>
        <p:spPr>
          <a:xfrm>
            <a:off x="4190998" y="3696367"/>
            <a:ext cx="1564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 smtClean="0"/>
              <a:t>Leistungs</a:t>
            </a:r>
            <a:r>
              <a:rPr lang="de-DE" sz="1000" dirty="0" smtClean="0"/>
              <a:t>+ Drehzahlüberwachung</a:t>
            </a:r>
            <a:endParaRPr lang="de-DE" sz="1000" dirty="0"/>
          </a:p>
        </p:txBody>
      </p:sp>
      <p:cxnSp>
        <p:nvCxnSpPr>
          <p:cNvPr id="104" name="Gewinkelte Verbindung 103"/>
          <p:cNvCxnSpPr/>
          <p:nvPr/>
        </p:nvCxnSpPr>
        <p:spPr>
          <a:xfrm>
            <a:off x="378065" y="2891692"/>
            <a:ext cx="4121637" cy="13770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feld 112"/>
          <p:cNvSpPr txBox="1"/>
          <p:nvPr/>
        </p:nvSpPr>
        <p:spPr>
          <a:xfrm>
            <a:off x="1607031" y="2646832"/>
            <a:ext cx="3261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Druckmessung für Fallhöhenüberwachung</a:t>
            </a:r>
            <a:endParaRPr lang="de-DE" sz="1200" dirty="0"/>
          </a:p>
        </p:txBody>
      </p:sp>
      <p:sp>
        <p:nvSpPr>
          <p:cNvPr id="114" name="Abgerundetes Rechteck 113"/>
          <p:cNvSpPr/>
          <p:nvPr/>
        </p:nvSpPr>
        <p:spPr>
          <a:xfrm>
            <a:off x="838200" y="1625600"/>
            <a:ext cx="9828822" cy="4677508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8" name="Gewinkelte Verbindung 117"/>
          <p:cNvCxnSpPr>
            <a:endCxn id="5" idx="1"/>
          </p:cNvCxnSpPr>
          <p:nvPr/>
        </p:nvCxnSpPr>
        <p:spPr>
          <a:xfrm rot="16200000" flipH="1">
            <a:off x="-805962" y="2810607"/>
            <a:ext cx="3047999" cy="677983"/>
          </a:xfrm>
          <a:prstGeom prst="bentConnector2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Gewinkelte Verbindung 119"/>
          <p:cNvCxnSpPr/>
          <p:nvPr/>
        </p:nvCxnSpPr>
        <p:spPr>
          <a:xfrm>
            <a:off x="5528897" y="3584594"/>
            <a:ext cx="3555019" cy="617938"/>
          </a:xfrm>
          <a:prstGeom prst="bentConnector3">
            <a:avLst>
              <a:gd name="adj1" fmla="val 100344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31"/>
          <p:cNvCxnSpPr/>
          <p:nvPr/>
        </p:nvCxnSpPr>
        <p:spPr>
          <a:xfrm flipV="1">
            <a:off x="5545992" y="3360201"/>
            <a:ext cx="0" cy="22439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Gewinkelte Verbindung 38"/>
          <p:cNvCxnSpPr/>
          <p:nvPr/>
        </p:nvCxnSpPr>
        <p:spPr>
          <a:xfrm rot="10800000">
            <a:off x="5857639" y="3472398"/>
            <a:ext cx="4524442" cy="1201199"/>
          </a:xfrm>
          <a:prstGeom prst="bentConnector3">
            <a:avLst>
              <a:gd name="adj1" fmla="val -2225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/>
          <p:cNvSpPr txBox="1"/>
          <p:nvPr/>
        </p:nvSpPr>
        <p:spPr>
          <a:xfrm>
            <a:off x="8573480" y="3182959"/>
            <a:ext cx="1997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Netzüberwachung + Leistung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248466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Setup V2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1057029" y="4208583"/>
            <a:ext cx="1391139" cy="93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Turbine </a:t>
            </a:r>
          </a:p>
          <a:p>
            <a:pPr algn="ctr"/>
            <a:r>
              <a:rPr lang="de-DE" dirty="0" smtClean="0"/>
              <a:t>KT 340</a:t>
            </a:r>
          </a:p>
          <a:p>
            <a:pPr algn="ctr"/>
            <a:r>
              <a:rPr lang="de-DE" dirty="0" err="1" smtClean="0"/>
              <a:t>Lingenhöhle</a:t>
            </a: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2596660" y="4208583"/>
            <a:ext cx="1594338" cy="93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DC Generator</a:t>
            </a:r>
          </a:p>
        </p:txBody>
      </p:sp>
      <p:cxnSp>
        <p:nvCxnSpPr>
          <p:cNvPr id="8" name="Gerader Verbinder 7"/>
          <p:cNvCxnSpPr>
            <a:stCxn id="5" idx="3"/>
            <a:endCxn id="6" idx="1"/>
          </p:cNvCxnSpPr>
          <p:nvPr/>
        </p:nvCxnSpPr>
        <p:spPr>
          <a:xfrm>
            <a:off x="2448168" y="4673599"/>
            <a:ext cx="148492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/>
          <p:cNvSpPr/>
          <p:nvPr/>
        </p:nvSpPr>
        <p:spPr>
          <a:xfrm>
            <a:off x="6316784" y="4208583"/>
            <a:ext cx="1848338" cy="9300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MPP </a:t>
            </a:r>
            <a:r>
              <a:rPr lang="de-DE" dirty="0" err="1" smtClean="0"/>
              <a:t>Tracker</a:t>
            </a:r>
            <a:endParaRPr lang="de-DE" dirty="0" smtClean="0"/>
          </a:p>
          <a:p>
            <a:pPr algn="ctr"/>
            <a:r>
              <a:rPr lang="de-DE" dirty="0" smtClean="0"/>
              <a:t>Balkonkraftwerk</a:t>
            </a:r>
          </a:p>
        </p:txBody>
      </p:sp>
      <p:cxnSp>
        <p:nvCxnSpPr>
          <p:cNvPr id="15" name="Gerader Verbinder 14"/>
          <p:cNvCxnSpPr>
            <a:stCxn id="6" idx="3"/>
          </p:cNvCxnSpPr>
          <p:nvPr/>
        </p:nvCxnSpPr>
        <p:spPr>
          <a:xfrm flipV="1">
            <a:off x="4190998" y="4673597"/>
            <a:ext cx="2125786" cy="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krümmte Verbindung 26"/>
          <p:cNvCxnSpPr/>
          <p:nvPr/>
        </p:nvCxnSpPr>
        <p:spPr>
          <a:xfrm rot="16200000" flipV="1">
            <a:off x="5247541" y="3199176"/>
            <a:ext cx="12700" cy="3847124"/>
          </a:xfrm>
          <a:prstGeom prst="curvedConnector3">
            <a:avLst>
              <a:gd name="adj1" fmla="val -63230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/>
          <p:cNvSpPr txBox="1"/>
          <p:nvPr/>
        </p:nvSpPr>
        <p:spPr>
          <a:xfrm>
            <a:off x="4585675" y="5597278"/>
            <a:ext cx="2051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Drehzahlregelung</a:t>
            </a:r>
            <a:endParaRPr lang="de-DE" sz="1200" dirty="0"/>
          </a:p>
        </p:txBody>
      </p:sp>
      <p:cxnSp>
        <p:nvCxnSpPr>
          <p:cNvPr id="32" name="Gerade Verbindung mit Pfeil 31"/>
          <p:cNvCxnSpPr>
            <a:stCxn id="14" idx="3"/>
          </p:cNvCxnSpPr>
          <p:nvPr/>
        </p:nvCxnSpPr>
        <p:spPr>
          <a:xfrm flipV="1">
            <a:off x="8165122" y="4673597"/>
            <a:ext cx="47673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/>
          <p:cNvSpPr txBox="1"/>
          <p:nvPr/>
        </p:nvSpPr>
        <p:spPr>
          <a:xfrm>
            <a:off x="8145584" y="4439136"/>
            <a:ext cx="570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230 V</a:t>
            </a:r>
            <a:endParaRPr lang="de-DE" sz="1200" dirty="0"/>
          </a:p>
        </p:txBody>
      </p:sp>
      <p:sp>
        <p:nvSpPr>
          <p:cNvPr id="38" name="Rechteck 37"/>
          <p:cNvSpPr/>
          <p:nvPr/>
        </p:nvSpPr>
        <p:spPr>
          <a:xfrm>
            <a:off x="8641861" y="4199057"/>
            <a:ext cx="1418493" cy="917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Trennstelle 1+2</a:t>
            </a:r>
          </a:p>
          <a:p>
            <a:pPr algn="ctr"/>
            <a:r>
              <a:rPr lang="de-DE" dirty="0" smtClean="0"/>
              <a:t>Schütz</a:t>
            </a:r>
          </a:p>
        </p:txBody>
      </p:sp>
      <p:cxnSp>
        <p:nvCxnSpPr>
          <p:cNvPr id="41" name="Gerade Verbindung mit Pfeil 40"/>
          <p:cNvCxnSpPr/>
          <p:nvPr/>
        </p:nvCxnSpPr>
        <p:spPr>
          <a:xfrm flipV="1">
            <a:off x="10060354" y="4673597"/>
            <a:ext cx="1672493" cy="11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10667022" y="4396598"/>
            <a:ext cx="1262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Energieableitung</a:t>
            </a:r>
            <a:endParaRPr lang="de-DE" sz="1200" dirty="0"/>
          </a:p>
        </p:txBody>
      </p:sp>
      <p:sp>
        <p:nvSpPr>
          <p:cNvPr id="44" name="Rechteck 43"/>
          <p:cNvSpPr/>
          <p:nvPr/>
        </p:nvSpPr>
        <p:spPr>
          <a:xfrm>
            <a:off x="6559062" y="2790094"/>
            <a:ext cx="1418493" cy="6052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24 V Batterie +Laderegler</a:t>
            </a:r>
          </a:p>
        </p:txBody>
      </p:sp>
      <p:sp>
        <p:nvSpPr>
          <p:cNvPr id="45" name="Rechteck 44"/>
          <p:cNvSpPr/>
          <p:nvPr/>
        </p:nvSpPr>
        <p:spPr>
          <a:xfrm>
            <a:off x="4544644" y="2790094"/>
            <a:ext cx="1418493" cy="6052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Steuerung</a:t>
            </a:r>
          </a:p>
        </p:txBody>
      </p:sp>
      <p:cxnSp>
        <p:nvCxnSpPr>
          <p:cNvPr id="47" name="Gewinkelte Verbindung 46"/>
          <p:cNvCxnSpPr>
            <a:endCxn id="44" idx="3"/>
          </p:cNvCxnSpPr>
          <p:nvPr/>
        </p:nvCxnSpPr>
        <p:spPr>
          <a:xfrm rot="16200000" flipV="1">
            <a:off x="7461748" y="3608536"/>
            <a:ext cx="1484907" cy="4532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/>
          <p:cNvCxnSpPr>
            <a:stCxn id="44" idx="1"/>
            <a:endCxn id="45" idx="3"/>
          </p:cNvCxnSpPr>
          <p:nvPr/>
        </p:nvCxnSpPr>
        <p:spPr>
          <a:xfrm flipH="1">
            <a:off x="5963137" y="3092728"/>
            <a:ext cx="595925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hteck 52"/>
          <p:cNvSpPr/>
          <p:nvPr/>
        </p:nvSpPr>
        <p:spPr>
          <a:xfrm>
            <a:off x="6559062" y="1882195"/>
            <a:ext cx="1418493" cy="6052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Not aus</a:t>
            </a:r>
          </a:p>
        </p:txBody>
      </p:sp>
      <p:cxnSp>
        <p:nvCxnSpPr>
          <p:cNvPr id="54" name="Gewinkelte Verbindung 53"/>
          <p:cNvCxnSpPr>
            <a:endCxn id="38" idx="0"/>
          </p:cNvCxnSpPr>
          <p:nvPr/>
        </p:nvCxnSpPr>
        <p:spPr>
          <a:xfrm rot="16200000" flipH="1">
            <a:off x="7714734" y="2562682"/>
            <a:ext cx="1938273" cy="1334475"/>
          </a:xfrm>
          <a:prstGeom prst="bentConnector3">
            <a:avLst>
              <a:gd name="adj1" fmla="val 808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53" idx="1"/>
          </p:cNvCxnSpPr>
          <p:nvPr/>
        </p:nvCxnSpPr>
        <p:spPr>
          <a:xfrm rot="10800000" flipV="1">
            <a:off x="5252912" y="2184828"/>
            <a:ext cx="1306150" cy="595739"/>
          </a:xfrm>
          <a:prstGeom prst="bentConnector3">
            <a:avLst>
              <a:gd name="adj1" fmla="val 99962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winkelte Verbindung 70"/>
          <p:cNvCxnSpPr>
            <a:stCxn id="45" idx="1"/>
          </p:cNvCxnSpPr>
          <p:nvPr/>
        </p:nvCxnSpPr>
        <p:spPr>
          <a:xfrm rot="10800000" flipV="1">
            <a:off x="2133598" y="3092728"/>
            <a:ext cx="2411047" cy="1044528"/>
          </a:xfrm>
          <a:prstGeom prst="bentConnector3">
            <a:avLst>
              <a:gd name="adj1" fmla="val 100243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feld 80"/>
          <p:cNvSpPr txBox="1"/>
          <p:nvPr/>
        </p:nvSpPr>
        <p:spPr>
          <a:xfrm>
            <a:off x="1" y="1232954"/>
            <a:ext cx="1137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Ca. DN50 bis DN70</a:t>
            </a:r>
            <a:endParaRPr lang="de-DE" dirty="0"/>
          </a:p>
        </p:txBody>
      </p:sp>
      <p:sp>
        <p:nvSpPr>
          <p:cNvPr id="86" name="Textfeld 85"/>
          <p:cNvSpPr txBox="1"/>
          <p:nvPr/>
        </p:nvSpPr>
        <p:spPr>
          <a:xfrm>
            <a:off x="2212237" y="3083202"/>
            <a:ext cx="2051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Leistungsregelung über Düsen</a:t>
            </a:r>
            <a:endParaRPr lang="de-DE" sz="1200" dirty="0"/>
          </a:p>
        </p:txBody>
      </p:sp>
      <p:cxnSp>
        <p:nvCxnSpPr>
          <p:cNvPr id="87" name="Gewinkelte Verbindung 86"/>
          <p:cNvCxnSpPr/>
          <p:nvPr/>
        </p:nvCxnSpPr>
        <p:spPr>
          <a:xfrm rot="10800000" flipV="1">
            <a:off x="1595797" y="2198611"/>
            <a:ext cx="3657114" cy="1939420"/>
          </a:xfrm>
          <a:prstGeom prst="bentConnector3">
            <a:avLst>
              <a:gd name="adj1" fmla="val 100327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winkelte Verbindung 89"/>
          <p:cNvCxnSpPr/>
          <p:nvPr/>
        </p:nvCxnSpPr>
        <p:spPr>
          <a:xfrm flipV="1">
            <a:off x="5464908" y="2301589"/>
            <a:ext cx="1078526" cy="469783"/>
          </a:xfrm>
          <a:prstGeom prst="bentConnector3">
            <a:avLst>
              <a:gd name="adj1" fmla="val -1087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feld 90"/>
          <p:cNvSpPr txBox="1"/>
          <p:nvPr/>
        </p:nvSpPr>
        <p:spPr>
          <a:xfrm>
            <a:off x="2397855" y="1914941"/>
            <a:ext cx="2375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Notaus</a:t>
            </a:r>
            <a:r>
              <a:rPr lang="de-DE" sz="1200" dirty="0" smtClean="0"/>
              <a:t> über 24 V </a:t>
            </a:r>
            <a:r>
              <a:rPr lang="de-DE" sz="1200" dirty="0" err="1" smtClean="0"/>
              <a:t>Federventiel</a:t>
            </a:r>
            <a:endParaRPr lang="de-DE" sz="1200" dirty="0"/>
          </a:p>
        </p:txBody>
      </p:sp>
      <p:cxnSp>
        <p:nvCxnSpPr>
          <p:cNvPr id="96" name="Gewinkelte Verbindung 95"/>
          <p:cNvCxnSpPr>
            <a:stCxn id="6" idx="0"/>
            <a:endCxn id="45" idx="2"/>
          </p:cNvCxnSpPr>
          <p:nvPr/>
        </p:nvCxnSpPr>
        <p:spPr>
          <a:xfrm rot="5400000" flipH="1" flipV="1">
            <a:off x="3917249" y="2871941"/>
            <a:ext cx="813222" cy="1860062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feld 102"/>
          <p:cNvSpPr txBox="1"/>
          <p:nvPr/>
        </p:nvSpPr>
        <p:spPr>
          <a:xfrm>
            <a:off x="3629666" y="3598543"/>
            <a:ext cx="1564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 smtClean="0"/>
              <a:t>Drehzahlübrwachung</a:t>
            </a:r>
            <a:endParaRPr lang="de-DE" sz="1000" dirty="0"/>
          </a:p>
        </p:txBody>
      </p:sp>
      <p:cxnSp>
        <p:nvCxnSpPr>
          <p:cNvPr id="104" name="Gewinkelte Verbindung 103"/>
          <p:cNvCxnSpPr/>
          <p:nvPr/>
        </p:nvCxnSpPr>
        <p:spPr>
          <a:xfrm>
            <a:off x="378065" y="2891692"/>
            <a:ext cx="4121637" cy="13770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feld 112"/>
          <p:cNvSpPr txBox="1"/>
          <p:nvPr/>
        </p:nvSpPr>
        <p:spPr>
          <a:xfrm>
            <a:off x="1607031" y="2646832"/>
            <a:ext cx="3261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Druckmessung für Fallhöhenüberwachung</a:t>
            </a:r>
            <a:endParaRPr lang="de-DE" sz="1200" dirty="0"/>
          </a:p>
        </p:txBody>
      </p:sp>
      <p:sp>
        <p:nvSpPr>
          <p:cNvPr id="114" name="Abgerundetes Rechteck 113"/>
          <p:cNvSpPr/>
          <p:nvPr/>
        </p:nvSpPr>
        <p:spPr>
          <a:xfrm>
            <a:off x="838200" y="1625600"/>
            <a:ext cx="9828822" cy="4677508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8" name="Gewinkelte Verbindung 117"/>
          <p:cNvCxnSpPr>
            <a:endCxn id="5" idx="1"/>
          </p:cNvCxnSpPr>
          <p:nvPr/>
        </p:nvCxnSpPr>
        <p:spPr>
          <a:xfrm rot="16200000" flipH="1">
            <a:off x="-805962" y="2810607"/>
            <a:ext cx="3047999" cy="677983"/>
          </a:xfrm>
          <a:prstGeom prst="bentConnector2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Gewinkelte Verbindung 119"/>
          <p:cNvCxnSpPr/>
          <p:nvPr/>
        </p:nvCxnSpPr>
        <p:spPr>
          <a:xfrm>
            <a:off x="5528897" y="3584594"/>
            <a:ext cx="3555019" cy="617938"/>
          </a:xfrm>
          <a:prstGeom prst="bentConnector3">
            <a:avLst>
              <a:gd name="adj1" fmla="val 100344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31"/>
          <p:cNvCxnSpPr/>
          <p:nvPr/>
        </p:nvCxnSpPr>
        <p:spPr>
          <a:xfrm flipV="1">
            <a:off x="5545992" y="3360201"/>
            <a:ext cx="0" cy="22439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Gewinkelte Verbindung 38"/>
          <p:cNvCxnSpPr/>
          <p:nvPr/>
        </p:nvCxnSpPr>
        <p:spPr>
          <a:xfrm rot="10800000">
            <a:off x="5857639" y="3472398"/>
            <a:ext cx="4524442" cy="1201199"/>
          </a:xfrm>
          <a:prstGeom prst="bentConnector3">
            <a:avLst>
              <a:gd name="adj1" fmla="val -2225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/>
          <p:cNvSpPr txBox="1"/>
          <p:nvPr/>
        </p:nvSpPr>
        <p:spPr>
          <a:xfrm>
            <a:off x="8573480" y="3182959"/>
            <a:ext cx="1997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Netzüberwachung + Leistung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30714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Setup 1 </a:t>
            </a:r>
            <a:r>
              <a:rPr lang="de-DE" dirty="0" smtClean="0"/>
              <a:t>vs. </a:t>
            </a:r>
            <a:r>
              <a:rPr lang="de-DE" dirty="0" smtClean="0"/>
              <a:t>Setup 2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Setup1</a:t>
            </a:r>
          </a:p>
          <a:p>
            <a:pPr lvl="1"/>
            <a:r>
              <a:rPr lang="de-DE" dirty="0" smtClean="0"/>
              <a:t>Synchron Generator wie im echten KW</a:t>
            </a:r>
          </a:p>
          <a:p>
            <a:pPr lvl="1"/>
            <a:r>
              <a:rPr lang="de-DE" dirty="0" smtClean="0"/>
              <a:t>Einfache Drehzahlüberwachung</a:t>
            </a:r>
          </a:p>
          <a:p>
            <a:pPr lvl="1"/>
            <a:r>
              <a:rPr lang="de-DE" dirty="0" smtClean="0"/>
              <a:t>Durch Modifikation 50Hz </a:t>
            </a:r>
            <a:r>
              <a:rPr lang="de-DE" dirty="0" err="1" smtClean="0"/>
              <a:t>Blackoutbetrieb</a:t>
            </a:r>
            <a:r>
              <a:rPr lang="de-DE" dirty="0" smtClean="0"/>
              <a:t> denkbar</a:t>
            </a:r>
          </a:p>
          <a:p>
            <a:pPr lvl="1"/>
            <a:endParaRPr lang="de-DE" dirty="0"/>
          </a:p>
          <a:p>
            <a:pPr lvl="1"/>
            <a:r>
              <a:rPr lang="de-DE" dirty="0" smtClean="0"/>
              <a:t>Gleichrichter notwendig</a:t>
            </a:r>
          </a:p>
          <a:p>
            <a:pPr lvl="1"/>
            <a:r>
              <a:rPr lang="de-DE" dirty="0" smtClean="0"/>
              <a:t>Wie „schön“ ist die Spannung für den MPP </a:t>
            </a:r>
            <a:r>
              <a:rPr lang="de-DE" dirty="0" err="1" smtClean="0"/>
              <a:t>Tracker</a:t>
            </a:r>
            <a:r>
              <a:rPr lang="de-DE" dirty="0" smtClean="0"/>
              <a:t>? </a:t>
            </a:r>
            <a:r>
              <a:rPr lang="de-DE" dirty="0" smtClean="0"/>
              <a:t>– Glättung notwendig?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Setup2</a:t>
            </a:r>
          </a:p>
          <a:p>
            <a:pPr lvl="1"/>
            <a:r>
              <a:rPr lang="de-DE" dirty="0" smtClean="0"/>
              <a:t>Einfacher, Kostenersparnis</a:t>
            </a:r>
            <a:endParaRPr lang="de-DE" dirty="0" smtClean="0"/>
          </a:p>
          <a:p>
            <a:pPr lvl="1"/>
            <a:endParaRPr lang="de-DE" dirty="0"/>
          </a:p>
          <a:p>
            <a:pPr lvl="1"/>
            <a:r>
              <a:rPr lang="de-DE" dirty="0"/>
              <a:t>Wie „schön“ ist die Spannung für den MPP </a:t>
            </a:r>
            <a:r>
              <a:rPr lang="de-DE" dirty="0" err="1" smtClean="0"/>
              <a:t>Tracker</a:t>
            </a:r>
            <a:r>
              <a:rPr lang="de-DE" dirty="0" smtClean="0"/>
              <a:t>? </a:t>
            </a:r>
            <a:r>
              <a:rPr lang="de-DE" dirty="0"/>
              <a:t>– Glättung </a:t>
            </a:r>
            <a:r>
              <a:rPr lang="de-DE" dirty="0" smtClean="0"/>
              <a:t>notwendig?</a:t>
            </a:r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7375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Steuerung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Regelung</a:t>
            </a:r>
          </a:p>
          <a:p>
            <a:pPr lvl="1"/>
            <a:r>
              <a:rPr lang="de-DE" dirty="0" smtClean="0"/>
              <a:t>Sommer – Speicherbetrieb, Betrieb in der Nacht, bzw. entsprechend Zufluss</a:t>
            </a:r>
          </a:p>
          <a:p>
            <a:pPr lvl="1"/>
            <a:r>
              <a:rPr lang="de-DE" dirty="0" smtClean="0"/>
              <a:t>Winter – Pegelbetrieb, immer Durchfluss damit das Wasser nicht friert</a:t>
            </a:r>
          </a:p>
          <a:p>
            <a:pPr lvl="1"/>
            <a:endParaRPr lang="de-DE" dirty="0"/>
          </a:p>
          <a:p>
            <a:r>
              <a:rPr lang="de-DE" dirty="0" smtClean="0"/>
              <a:t>Optimierungspotenzial:</a:t>
            </a:r>
          </a:p>
          <a:p>
            <a:pPr lvl="1"/>
            <a:r>
              <a:rPr lang="de-DE" dirty="0" smtClean="0"/>
              <a:t>Batterie einsparen, bei Aktuatoren mit </a:t>
            </a:r>
            <a:r>
              <a:rPr lang="de-DE" dirty="0" smtClean="0"/>
              <a:t>Schließ-Tendenz</a:t>
            </a:r>
            <a:endParaRPr lang="de-DE" dirty="0" smtClean="0"/>
          </a:p>
          <a:p>
            <a:pPr lvl="1"/>
            <a:r>
              <a:rPr lang="de-DE" dirty="0" smtClean="0"/>
              <a:t>Sensor Setup</a:t>
            </a:r>
          </a:p>
          <a:p>
            <a:pPr lvl="1"/>
            <a:endParaRPr lang="de-DE" dirty="0" smtClean="0"/>
          </a:p>
          <a:p>
            <a:r>
              <a:rPr lang="de-DE" dirty="0" smtClean="0"/>
              <a:t>Datenübertragung zum Hof</a:t>
            </a:r>
          </a:p>
          <a:p>
            <a:pPr lvl="1"/>
            <a:r>
              <a:rPr lang="de-DE" dirty="0" smtClean="0"/>
              <a:t>Zum Überlegen</a:t>
            </a:r>
          </a:p>
        </p:txBody>
      </p:sp>
    </p:spTree>
    <p:extLst>
      <p:ext uri="{BB962C8B-B14F-4D97-AF65-F5344CB8AC3E}">
        <p14:creationId xmlns:p14="http://schemas.microsoft.com/office/powerpoint/2010/main" val="410004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Setup Steuerung B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1057029" y="4208583"/>
            <a:ext cx="1391139" cy="93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Turbine </a:t>
            </a:r>
          </a:p>
          <a:p>
            <a:pPr algn="ctr"/>
            <a:r>
              <a:rPr lang="de-DE" dirty="0" smtClean="0"/>
              <a:t>KT 340</a:t>
            </a:r>
          </a:p>
          <a:p>
            <a:pPr algn="ctr"/>
            <a:r>
              <a:rPr lang="de-DE" dirty="0" err="1" smtClean="0"/>
              <a:t>Lingenhöhle</a:t>
            </a: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2596660" y="4208583"/>
            <a:ext cx="1594338" cy="930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DC Generator</a:t>
            </a:r>
          </a:p>
        </p:txBody>
      </p:sp>
      <p:cxnSp>
        <p:nvCxnSpPr>
          <p:cNvPr id="8" name="Gerader Verbinder 7"/>
          <p:cNvCxnSpPr>
            <a:stCxn id="5" idx="3"/>
            <a:endCxn id="6" idx="1"/>
          </p:cNvCxnSpPr>
          <p:nvPr/>
        </p:nvCxnSpPr>
        <p:spPr>
          <a:xfrm>
            <a:off x="2448168" y="4673599"/>
            <a:ext cx="148492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/>
          <p:cNvSpPr/>
          <p:nvPr/>
        </p:nvSpPr>
        <p:spPr>
          <a:xfrm>
            <a:off x="6316784" y="4208583"/>
            <a:ext cx="1848338" cy="9300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MPP </a:t>
            </a:r>
            <a:r>
              <a:rPr lang="de-DE" dirty="0" err="1" smtClean="0"/>
              <a:t>Tracker</a:t>
            </a:r>
            <a:endParaRPr lang="de-DE" dirty="0" smtClean="0"/>
          </a:p>
          <a:p>
            <a:pPr algn="ctr"/>
            <a:r>
              <a:rPr lang="de-DE" dirty="0" smtClean="0"/>
              <a:t>Balkonkraftwerk</a:t>
            </a:r>
          </a:p>
        </p:txBody>
      </p:sp>
      <p:cxnSp>
        <p:nvCxnSpPr>
          <p:cNvPr id="15" name="Gerader Verbinder 14"/>
          <p:cNvCxnSpPr>
            <a:stCxn id="6" idx="3"/>
          </p:cNvCxnSpPr>
          <p:nvPr/>
        </p:nvCxnSpPr>
        <p:spPr>
          <a:xfrm flipV="1">
            <a:off x="4190998" y="4673597"/>
            <a:ext cx="2125786" cy="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krümmte Verbindung 26"/>
          <p:cNvCxnSpPr/>
          <p:nvPr/>
        </p:nvCxnSpPr>
        <p:spPr>
          <a:xfrm rot="16200000" flipV="1">
            <a:off x="5247541" y="3199176"/>
            <a:ext cx="12700" cy="3847124"/>
          </a:xfrm>
          <a:prstGeom prst="curvedConnector3">
            <a:avLst>
              <a:gd name="adj1" fmla="val -63230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/>
          <p:cNvSpPr txBox="1"/>
          <p:nvPr/>
        </p:nvSpPr>
        <p:spPr>
          <a:xfrm>
            <a:off x="4585675" y="5597278"/>
            <a:ext cx="2051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Drehzahlregelung</a:t>
            </a:r>
            <a:endParaRPr lang="de-DE" sz="1200" dirty="0"/>
          </a:p>
        </p:txBody>
      </p:sp>
      <p:cxnSp>
        <p:nvCxnSpPr>
          <p:cNvPr id="32" name="Gerade Verbindung mit Pfeil 31"/>
          <p:cNvCxnSpPr>
            <a:stCxn id="14" idx="3"/>
          </p:cNvCxnSpPr>
          <p:nvPr/>
        </p:nvCxnSpPr>
        <p:spPr>
          <a:xfrm flipV="1">
            <a:off x="8165122" y="4673597"/>
            <a:ext cx="47673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/>
          <p:cNvSpPr txBox="1"/>
          <p:nvPr/>
        </p:nvSpPr>
        <p:spPr>
          <a:xfrm>
            <a:off x="8145584" y="4439136"/>
            <a:ext cx="570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230 V</a:t>
            </a:r>
            <a:endParaRPr lang="de-DE" sz="1200" dirty="0"/>
          </a:p>
        </p:txBody>
      </p:sp>
      <p:sp>
        <p:nvSpPr>
          <p:cNvPr id="38" name="Rechteck 37"/>
          <p:cNvSpPr/>
          <p:nvPr/>
        </p:nvSpPr>
        <p:spPr>
          <a:xfrm>
            <a:off x="8641861" y="4199057"/>
            <a:ext cx="1418493" cy="917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Trennstelle 1+2</a:t>
            </a:r>
          </a:p>
          <a:p>
            <a:pPr algn="ctr"/>
            <a:r>
              <a:rPr lang="de-DE" dirty="0" smtClean="0"/>
              <a:t>Schütz</a:t>
            </a:r>
          </a:p>
        </p:txBody>
      </p:sp>
      <p:cxnSp>
        <p:nvCxnSpPr>
          <p:cNvPr id="41" name="Gerade Verbindung mit Pfeil 40"/>
          <p:cNvCxnSpPr/>
          <p:nvPr/>
        </p:nvCxnSpPr>
        <p:spPr>
          <a:xfrm flipV="1">
            <a:off x="10060354" y="4673597"/>
            <a:ext cx="1672493" cy="11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10667022" y="4396598"/>
            <a:ext cx="1262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Energieableitung</a:t>
            </a:r>
            <a:endParaRPr lang="de-DE" sz="1200" dirty="0"/>
          </a:p>
        </p:txBody>
      </p:sp>
      <p:sp>
        <p:nvSpPr>
          <p:cNvPr id="44" name="Rechteck 43"/>
          <p:cNvSpPr/>
          <p:nvPr/>
        </p:nvSpPr>
        <p:spPr>
          <a:xfrm>
            <a:off x="6559062" y="2790094"/>
            <a:ext cx="1418493" cy="6052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24 V Netzteil</a:t>
            </a:r>
          </a:p>
        </p:txBody>
      </p:sp>
      <p:sp>
        <p:nvSpPr>
          <p:cNvPr id="45" name="Rechteck 44"/>
          <p:cNvSpPr/>
          <p:nvPr/>
        </p:nvSpPr>
        <p:spPr>
          <a:xfrm>
            <a:off x="4544644" y="2790094"/>
            <a:ext cx="1418493" cy="6052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Steuerung</a:t>
            </a:r>
          </a:p>
        </p:txBody>
      </p:sp>
      <p:cxnSp>
        <p:nvCxnSpPr>
          <p:cNvPr id="47" name="Gewinkelte Verbindung 46"/>
          <p:cNvCxnSpPr>
            <a:endCxn id="44" idx="3"/>
          </p:cNvCxnSpPr>
          <p:nvPr/>
        </p:nvCxnSpPr>
        <p:spPr>
          <a:xfrm rot="10800000">
            <a:off x="7977555" y="3092729"/>
            <a:ext cx="2404526" cy="1580869"/>
          </a:xfrm>
          <a:prstGeom prst="bentConnector3">
            <a:avLst>
              <a:gd name="adj1" fmla="val -210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/>
          <p:cNvCxnSpPr>
            <a:stCxn id="44" idx="1"/>
            <a:endCxn id="45" idx="3"/>
          </p:cNvCxnSpPr>
          <p:nvPr/>
        </p:nvCxnSpPr>
        <p:spPr>
          <a:xfrm flipH="1">
            <a:off x="5963137" y="3092728"/>
            <a:ext cx="595925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hteck 52"/>
          <p:cNvSpPr/>
          <p:nvPr/>
        </p:nvSpPr>
        <p:spPr>
          <a:xfrm>
            <a:off x="6559062" y="1882195"/>
            <a:ext cx="1418493" cy="6052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Not aus</a:t>
            </a:r>
          </a:p>
        </p:txBody>
      </p:sp>
      <p:cxnSp>
        <p:nvCxnSpPr>
          <p:cNvPr id="54" name="Gewinkelte Verbindung 53"/>
          <p:cNvCxnSpPr/>
          <p:nvPr/>
        </p:nvCxnSpPr>
        <p:spPr>
          <a:xfrm rot="16200000" flipH="1">
            <a:off x="7714734" y="2562682"/>
            <a:ext cx="1938273" cy="1334475"/>
          </a:xfrm>
          <a:prstGeom prst="bentConnector3">
            <a:avLst>
              <a:gd name="adj1" fmla="val 808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53" idx="1"/>
          </p:cNvCxnSpPr>
          <p:nvPr/>
        </p:nvCxnSpPr>
        <p:spPr>
          <a:xfrm rot="10800000" flipV="1">
            <a:off x="5252912" y="2184828"/>
            <a:ext cx="1306150" cy="595739"/>
          </a:xfrm>
          <a:prstGeom prst="bentConnector3">
            <a:avLst>
              <a:gd name="adj1" fmla="val 99962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winkelte Verbindung 70"/>
          <p:cNvCxnSpPr>
            <a:stCxn id="45" idx="1"/>
          </p:cNvCxnSpPr>
          <p:nvPr/>
        </p:nvCxnSpPr>
        <p:spPr>
          <a:xfrm rot="10800000" flipV="1">
            <a:off x="2133598" y="3092728"/>
            <a:ext cx="2411047" cy="1044528"/>
          </a:xfrm>
          <a:prstGeom prst="bentConnector3">
            <a:avLst>
              <a:gd name="adj1" fmla="val 100243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feld 80"/>
          <p:cNvSpPr txBox="1"/>
          <p:nvPr/>
        </p:nvSpPr>
        <p:spPr>
          <a:xfrm>
            <a:off x="1" y="1232954"/>
            <a:ext cx="1137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Ca. </a:t>
            </a:r>
            <a:r>
              <a:rPr lang="de-DE" dirty="0" smtClean="0"/>
              <a:t>DN50 </a:t>
            </a:r>
            <a:r>
              <a:rPr lang="de-DE" dirty="0" smtClean="0"/>
              <a:t>bis DN70</a:t>
            </a:r>
            <a:endParaRPr lang="de-DE" dirty="0"/>
          </a:p>
        </p:txBody>
      </p:sp>
      <p:sp>
        <p:nvSpPr>
          <p:cNvPr id="86" name="Textfeld 85"/>
          <p:cNvSpPr txBox="1"/>
          <p:nvPr/>
        </p:nvSpPr>
        <p:spPr>
          <a:xfrm>
            <a:off x="2212237" y="3083202"/>
            <a:ext cx="2051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Leistungsregelung über Düsen</a:t>
            </a:r>
            <a:endParaRPr lang="de-DE" sz="1200" dirty="0"/>
          </a:p>
        </p:txBody>
      </p:sp>
      <p:cxnSp>
        <p:nvCxnSpPr>
          <p:cNvPr id="87" name="Gewinkelte Verbindung 86"/>
          <p:cNvCxnSpPr/>
          <p:nvPr/>
        </p:nvCxnSpPr>
        <p:spPr>
          <a:xfrm rot="10800000" flipV="1">
            <a:off x="1595797" y="2198611"/>
            <a:ext cx="3657114" cy="1939420"/>
          </a:xfrm>
          <a:prstGeom prst="bentConnector3">
            <a:avLst>
              <a:gd name="adj1" fmla="val 100327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winkelte Verbindung 89"/>
          <p:cNvCxnSpPr/>
          <p:nvPr/>
        </p:nvCxnSpPr>
        <p:spPr>
          <a:xfrm flipV="1">
            <a:off x="5464908" y="2301589"/>
            <a:ext cx="1078526" cy="469783"/>
          </a:xfrm>
          <a:prstGeom prst="bentConnector3">
            <a:avLst>
              <a:gd name="adj1" fmla="val -1087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feld 90"/>
          <p:cNvSpPr txBox="1"/>
          <p:nvPr/>
        </p:nvSpPr>
        <p:spPr>
          <a:xfrm>
            <a:off x="2397855" y="1914941"/>
            <a:ext cx="2375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Notaus</a:t>
            </a:r>
            <a:r>
              <a:rPr lang="de-DE" sz="1200" dirty="0" smtClean="0"/>
              <a:t> über 24 V </a:t>
            </a:r>
            <a:r>
              <a:rPr lang="de-DE" sz="1200" dirty="0" err="1" smtClean="0"/>
              <a:t>Federventiel</a:t>
            </a:r>
            <a:endParaRPr lang="de-DE" sz="1200" dirty="0"/>
          </a:p>
        </p:txBody>
      </p:sp>
      <p:cxnSp>
        <p:nvCxnSpPr>
          <p:cNvPr id="96" name="Gewinkelte Verbindung 95"/>
          <p:cNvCxnSpPr>
            <a:stCxn id="6" idx="0"/>
            <a:endCxn id="45" idx="2"/>
          </p:cNvCxnSpPr>
          <p:nvPr/>
        </p:nvCxnSpPr>
        <p:spPr>
          <a:xfrm rot="5400000" flipH="1" flipV="1">
            <a:off x="3917249" y="2871941"/>
            <a:ext cx="813222" cy="1860062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feld 102"/>
          <p:cNvSpPr txBox="1"/>
          <p:nvPr/>
        </p:nvSpPr>
        <p:spPr>
          <a:xfrm>
            <a:off x="3629666" y="3598543"/>
            <a:ext cx="1564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 smtClean="0"/>
              <a:t>Drehzahlübrwachung</a:t>
            </a:r>
            <a:r>
              <a:rPr lang="de-DE" sz="1000" dirty="0" smtClean="0"/>
              <a:t> + </a:t>
            </a:r>
            <a:r>
              <a:rPr lang="de-DE" sz="1000" dirty="0" smtClean="0"/>
              <a:t>Leistung</a:t>
            </a:r>
            <a:endParaRPr lang="de-DE" sz="1000" dirty="0"/>
          </a:p>
        </p:txBody>
      </p:sp>
      <p:cxnSp>
        <p:nvCxnSpPr>
          <p:cNvPr id="104" name="Gewinkelte Verbindung 103"/>
          <p:cNvCxnSpPr/>
          <p:nvPr/>
        </p:nvCxnSpPr>
        <p:spPr>
          <a:xfrm>
            <a:off x="378065" y="2891692"/>
            <a:ext cx="4121637" cy="13770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feld 112"/>
          <p:cNvSpPr txBox="1"/>
          <p:nvPr/>
        </p:nvSpPr>
        <p:spPr>
          <a:xfrm>
            <a:off x="1607031" y="2646832"/>
            <a:ext cx="3261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Druckmessung für Fallhöhenüberwachung</a:t>
            </a:r>
            <a:endParaRPr lang="de-DE" sz="1200" dirty="0"/>
          </a:p>
        </p:txBody>
      </p:sp>
      <p:sp>
        <p:nvSpPr>
          <p:cNvPr id="114" name="Abgerundetes Rechteck 113"/>
          <p:cNvSpPr/>
          <p:nvPr/>
        </p:nvSpPr>
        <p:spPr>
          <a:xfrm>
            <a:off x="838199" y="1625600"/>
            <a:ext cx="10344993" cy="4677508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8" name="Gewinkelte Verbindung 117"/>
          <p:cNvCxnSpPr>
            <a:endCxn id="5" idx="1"/>
          </p:cNvCxnSpPr>
          <p:nvPr/>
        </p:nvCxnSpPr>
        <p:spPr>
          <a:xfrm rot="16200000" flipH="1">
            <a:off x="-805962" y="2810607"/>
            <a:ext cx="3047999" cy="677983"/>
          </a:xfrm>
          <a:prstGeom prst="bentConnector2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Gewinkelte Verbindung 119"/>
          <p:cNvCxnSpPr/>
          <p:nvPr/>
        </p:nvCxnSpPr>
        <p:spPr>
          <a:xfrm>
            <a:off x="5528897" y="3584594"/>
            <a:ext cx="3555019" cy="617938"/>
          </a:xfrm>
          <a:prstGeom prst="bentConnector3">
            <a:avLst>
              <a:gd name="adj1" fmla="val 100344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31"/>
          <p:cNvCxnSpPr/>
          <p:nvPr/>
        </p:nvCxnSpPr>
        <p:spPr>
          <a:xfrm flipV="1">
            <a:off x="5545992" y="3360201"/>
            <a:ext cx="0" cy="22439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Gewinkelte Verbindung 38"/>
          <p:cNvCxnSpPr/>
          <p:nvPr/>
        </p:nvCxnSpPr>
        <p:spPr>
          <a:xfrm rot="10800000">
            <a:off x="5857639" y="3472398"/>
            <a:ext cx="4524442" cy="1201199"/>
          </a:xfrm>
          <a:prstGeom prst="bentConnector3">
            <a:avLst>
              <a:gd name="adj1" fmla="val -2225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/>
          <p:cNvSpPr txBox="1"/>
          <p:nvPr/>
        </p:nvSpPr>
        <p:spPr>
          <a:xfrm>
            <a:off x="9257684" y="1784675"/>
            <a:ext cx="955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Netzzustand</a:t>
            </a:r>
            <a:endParaRPr lang="de-DE" sz="1200" dirty="0"/>
          </a:p>
        </p:txBody>
      </p:sp>
      <p:cxnSp>
        <p:nvCxnSpPr>
          <p:cNvPr id="40" name="Gewinkelte Verbindung 39"/>
          <p:cNvCxnSpPr/>
          <p:nvPr/>
        </p:nvCxnSpPr>
        <p:spPr>
          <a:xfrm rot="10800000">
            <a:off x="7977555" y="2050996"/>
            <a:ext cx="3018084" cy="2597203"/>
          </a:xfrm>
          <a:prstGeom prst="bentConnector3">
            <a:avLst>
              <a:gd name="adj1" fmla="val -1211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/>
          <p:cNvSpPr txBox="1"/>
          <p:nvPr/>
        </p:nvSpPr>
        <p:spPr>
          <a:xfrm>
            <a:off x="9735219" y="3409261"/>
            <a:ext cx="955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Leistung</a:t>
            </a:r>
            <a:endParaRPr lang="de-DE" sz="1200" dirty="0"/>
          </a:p>
        </p:txBody>
      </p:sp>
      <p:sp>
        <p:nvSpPr>
          <p:cNvPr id="10" name="Rechteck 9"/>
          <p:cNvSpPr/>
          <p:nvPr/>
        </p:nvSpPr>
        <p:spPr>
          <a:xfrm>
            <a:off x="4868983" y="4053354"/>
            <a:ext cx="988656" cy="45786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smtClean="0"/>
              <a:t>Widerstand  - Belastung ohne Netz</a:t>
            </a:r>
            <a:endParaRPr lang="de-DE" sz="1000" dirty="0"/>
          </a:p>
        </p:txBody>
      </p:sp>
      <p:cxnSp>
        <p:nvCxnSpPr>
          <p:cNvPr id="12" name="Gerade Verbindung mit Pfeil 11"/>
          <p:cNvCxnSpPr>
            <a:endCxn id="10" idx="2"/>
          </p:cNvCxnSpPr>
          <p:nvPr/>
        </p:nvCxnSpPr>
        <p:spPr>
          <a:xfrm flipV="1">
            <a:off x="5324559" y="4511216"/>
            <a:ext cx="38752" cy="16238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5509339" y="3395361"/>
            <a:ext cx="1541605" cy="65799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/>
          <p:cNvCxnSpPr/>
          <p:nvPr/>
        </p:nvCxnSpPr>
        <p:spPr>
          <a:xfrm flipH="1">
            <a:off x="5905987" y="3929102"/>
            <a:ext cx="5079842" cy="13849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431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Nächste Punkte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Lingerhöle</a:t>
            </a:r>
            <a:endParaRPr lang="de-DE" dirty="0" smtClean="0"/>
          </a:p>
          <a:p>
            <a:pPr lvl="1"/>
            <a:r>
              <a:rPr lang="de-DE" dirty="0" smtClean="0"/>
              <a:t>Lieferzeit</a:t>
            </a:r>
          </a:p>
          <a:p>
            <a:pPr lvl="1"/>
            <a:r>
              <a:rPr lang="de-DE" dirty="0" smtClean="0"/>
              <a:t>DC Variante</a:t>
            </a:r>
          </a:p>
          <a:p>
            <a:pPr lvl="1"/>
            <a:r>
              <a:rPr lang="de-DE" dirty="0" smtClean="0"/>
              <a:t>Drehzahlen</a:t>
            </a:r>
          </a:p>
          <a:p>
            <a:r>
              <a:rPr lang="de-DE" dirty="0" smtClean="0"/>
              <a:t>Steuerung</a:t>
            </a:r>
          </a:p>
          <a:p>
            <a:pPr lvl="1"/>
            <a:r>
              <a:rPr lang="de-DE" dirty="0" smtClean="0"/>
              <a:t>Signal und Aktuatoren Liste</a:t>
            </a:r>
          </a:p>
          <a:p>
            <a:pPr lvl="1"/>
            <a:r>
              <a:rPr lang="de-DE" dirty="0" smtClean="0"/>
              <a:t>Auswahl Steuerung</a:t>
            </a:r>
          </a:p>
          <a:p>
            <a:r>
              <a:rPr lang="de-DE" dirty="0" smtClean="0"/>
              <a:t>Maschinenbau</a:t>
            </a:r>
          </a:p>
          <a:p>
            <a:pPr lvl="1"/>
            <a:r>
              <a:rPr lang="de-DE" dirty="0" smtClean="0"/>
              <a:t>Gehäusevolumen festlegen – Grob design</a:t>
            </a:r>
          </a:p>
          <a:p>
            <a:pPr marL="457200" lvl="1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088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Kosten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167304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Pos.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 in EUR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Energiekabel, Erdung, </a:t>
                      </a:r>
                      <a:r>
                        <a:rPr lang="de-DE" dirty="0" err="1" smtClean="0"/>
                        <a:t>El</a:t>
                      </a:r>
                      <a:r>
                        <a:rPr lang="de-DE" dirty="0" smtClean="0"/>
                        <a:t>-Anschluss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2.000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Turbine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5.000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Steuerung</a:t>
                      </a:r>
                      <a:r>
                        <a:rPr lang="de-DE" baseline="0" dirty="0" smtClean="0"/>
                        <a:t>, Sensoren, E-Technik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2.000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Druckrohrleitung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Gehäuse/Box und </a:t>
                      </a:r>
                      <a:r>
                        <a:rPr lang="de-DE" dirty="0" smtClean="0"/>
                        <a:t>Ventile</a:t>
                      </a:r>
                      <a:r>
                        <a:rPr lang="de-DE" baseline="0" dirty="0" smtClean="0"/>
                        <a:t>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997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Breitbild</PresentationFormat>
  <Paragraphs>128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Micro Hydro Konzept</vt:lpstr>
      <vt:lpstr>Örtlichkeit</vt:lpstr>
      <vt:lpstr>Kabel</vt:lpstr>
      <vt:lpstr>Auslegung</vt:lpstr>
      <vt:lpstr>Setup V1</vt:lpstr>
      <vt:lpstr>Setup V2</vt:lpstr>
      <vt:lpstr>Setup 1 vs. Setup 2</vt:lpstr>
      <vt:lpstr>Steuerung</vt:lpstr>
      <vt:lpstr>Setup Steuerung B</vt:lpstr>
      <vt:lpstr>Nächste Punkte</vt:lpstr>
      <vt:lpstr>Kosten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 Hydro Konzept</dc:title>
  <dc:creator>Raimund</dc:creator>
  <cp:lastModifiedBy>Raimund</cp:lastModifiedBy>
  <cp:revision>19</cp:revision>
  <dcterms:created xsi:type="dcterms:W3CDTF">2025-10-11T08:10:01Z</dcterms:created>
  <dcterms:modified xsi:type="dcterms:W3CDTF">2025-12-07T18:55:41Z</dcterms:modified>
</cp:coreProperties>
</file>